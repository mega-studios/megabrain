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468880"/>
            <a:ext cx="10911535" cy="457200"/>
          </a:xfrm>
          <a:prstGeom prst="rect">
            <a:avLst/>
          </a:prstGeom>
          <a:noFill/>
        </p:spPr>
        <p:txBody>
          <a:bodyPr wrap="square">
            <a:spAutoFit/>
          </a:bodyPr>
          <a:lstStyle/>
          <a:p>
            <a:r>
              <a:rPr sz="1300" b="1">
                <a:solidFill>
                  <a:srgbClr val="9A9A9A"/>
                </a:solidFill>
                <a:latin typeface="Arial"/>
              </a:rPr>
              <a:t>BLACKBELT ON AGENTIC ABM — MEGABRAIN ACADEMY — MODULE 5</a:t>
            </a:r>
          </a:p>
        </p:txBody>
      </p:sp>
      <p:sp>
        <p:nvSpPr>
          <p:cNvPr id="5" name="TextBox 4"/>
          <p:cNvSpPr txBox="1"/>
          <p:nvPr/>
        </p:nvSpPr>
        <p:spPr>
          <a:xfrm>
            <a:off x="640080" y="2880360"/>
            <a:ext cx="10911535" cy="1463040"/>
          </a:xfrm>
          <a:prstGeom prst="rect">
            <a:avLst/>
          </a:prstGeom>
          <a:noFill/>
        </p:spPr>
        <p:txBody>
          <a:bodyPr wrap="square">
            <a:spAutoFit/>
          </a:bodyPr>
          <a:lstStyle/>
          <a:p>
            <a:r>
              <a:rPr sz="4000" b="1">
                <a:solidFill>
                  <a:srgbClr val="F5F5F5"/>
                </a:solidFill>
                <a:latin typeface="Arial"/>
              </a:rPr>
              <a:t>5. Offer &amp; Content Personalization</a:t>
            </a:r>
          </a:p>
        </p:txBody>
      </p:sp>
      <p:sp>
        <p:nvSpPr>
          <p:cNvPr id="6" name="TextBox 5"/>
          <p:cNvSpPr txBox="1"/>
          <p:nvPr/>
        </p:nvSpPr>
        <p:spPr>
          <a:xfrm>
            <a:off x="640080" y="3931920"/>
            <a:ext cx="10728655" cy="1097280"/>
          </a:xfrm>
          <a:prstGeom prst="rect">
            <a:avLst/>
          </a:prstGeom>
          <a:noFill/>
        </p:spPr>
        <p:txBody>
          <a:bodyPr wrap="square">
            <a:spAutoFit/>
          </a:bodyPr>
          <a:lstStyle/>
          <a:p>
            <a:r>
              <a:rPr sz="1600" b="0">
                <a:solidFill>
                  <a:srgbClr val="9A9A9A"/>
                </a:solidFill>
                <a:latin typeface="Arial"/>
              </a:rPr>
              <a:t>Three types of offers and the industry -&gt; persona -&gt; company layers of personalization, with templates.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5.1  Where personalization fits in the ABM loop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thought-leadership.jpg"/>
          <p:cNvPicPr>
            <a:picLocks noChangeAspect="1"/>
          </p:cNvPicPr>
          <p:nvPr/>
        </p:nvPicPr>
        <p:blipFill>
          <a:blip r:embed="rId2"/>
          <a:srcRect l="22733" r="22733"/>
          <a:stretch>
            <a:fillRect/>
          </a:stretch>
        </p:blipFill>
        <p:spPr>
          <a:xfrm>
            <a:off x="6583516" y="0"/>
            <a:ext cx="5608179" cy="6858000"/>
          </a:xfrm>
          <a:prstGeom prst="rect">
            <a:avLst/>
          </a:prstGeom>
        </p:spPr>
      </p:pic>
      <p:sp>
        <p:nvSpPr>
          <p:cNvPr id="5" name="TextBox 4"/>
          <p:cNvSpPr txBox="1"/>
          <p:nvPr/>
        </p:nvSpPr>
        <p:spPr>
          <a:xfrm>
            <a:off x="640080" y="1828800"/>
            <a:ext cx="5760556" cy="457200"/>
          </a:xfrm>
          <a:prstGeom prst="rect">
            <a:avLst/>
          </a:prstGeom>
          <a:noFill/>
        </p:spPr>
        <p:txBody>
          <a:bodyPr wrap="square">
            <a:spAutoFit/>
          </a:bodyPr>
          <a:lstStyle/>
          <a:p>
            <a:r>
              <a:rPr sz="1200" b="1">
                <a:solidFill>
                  <a:srgbClr val="9A9A9A"/>
                </a:solidFill>
                <a:latin typeface="Arial"/>
              </a:rPr>
              <a:t>5.2  CASE IN POINT</a:t>
            </a:r>
          </a:p>
        </p:txBody>
      </p:sp>
      <p:sp>
        <p:nvSpPr>
          <p:cNvPr id="6" name="TextBox 5"/>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Baker Hughes: what full personalization looks like end to end</a:t>
            </a:r>
          </a:p>
        </p:txBody>
      </p:sp>
      <p:sp>
        <p:nvSpPr>
          <p:cNvPr id="7" name="TextBox 6"/>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A published ABM case for an industrial-additives business unit: content segmented by industry (auto, aviation, oil &amp; gas, electronics), personas mapped to their psychographic fears (compliance risk, "don't let this be my fault"), and messaging synced to the funnel stage. Result: 500+ new contacts, 100+ MQLs, 11 deals, 3 signed contracts, 1,300%+ ROI, and a Content Marketing Awards finalist.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5.3  Customer personas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457200"/>
            <a:ext cx="10728655" cy="731520"/>
          </a:xfrm>
          <a:prstGeom prst="rect">
            <a:avLst/>
          </a:prstGeom>
          <a:noFill/>
        </p:spPr>
        <p:txBody>
          <a:bodyPr wrap="square">
            <a:spAutoFit/>
          </a:bodyPr>
          <a:lstStyle/>
          <a:p>
            <a:r>
              <a:rPr sz="2400" b="1">
                <a:solidFill>
                  <a:srgbClr val="F5F5F5"/>
                </a:solidFill>
                <a:latin typeface="Arial"/>
              </a:rPr>
              <a:t>Why documented personas move the needle</a:t>
            </a:r>
          </a:p>
        </p:txBody>
      </p:sp>
      <p:pic>
        <p:nvPicPr>
          <p:cNvPr id="5" name="Picture 4" descr="m5-persona-value-stats.png"/>
          <p:cNvPicPr>
            <a:picLocks noChangeAspect="1"/>
          </p:cNvPicPr>
          <p:nvPr/>
        </p:nvPicPr>
        <p:blipFill>
          <a:blip r:embed="rId2"/>
          <a:stretch>
            <a:fillRect/>
          </a:stretch>
        </p:blipFill>
        <p:spPr>
          <a:xfrm>
            <a:off x="640080" y="1371600"/>
            <a:ext cx="10911535" cy="4231698"/>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250" b="0">
                <a:solidFill>
                  <a:srgbClr val="9A9A9A"/>
                </a:solidFill>
                <a:latin typeface="Arial"/>
              </a:rPr>
              <a:t>A persona is a portrait of what your buyer thinks, does, wants and fears — in their own words, not yours.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customer-interview.jpg"/>
          <p:cNvPicPr>
            <a:picLocks noChangeAspect="1"/>
          </p:cNvPicPr>
          <p:nvPr/>
        </p:nvPicPr>
        <p:blipFill>
          <a:blip r:embed="rId2"/>
          <a:srcRect t="9238" b="9238"/>
          <a:stretch>
            <a:fillRect/>
          </a:stretch>
        </p:blipFill>
        <p:spPr>
          <a:xfrm>
            <a:off x="6583516" y="0"/>
            <a:ext cx="5608179" cy="6858000"/>
          </a:xfrm>
          <a:prstGeom prst="rect">
            <a:avLst/>
          </a:prstGeom>
        </p:spPr>
      </p:pic>
      <p:sp>
        <p:nvSpPr>
          <p:cNvPr id="5" name="TextBox 4"/>
          <p:cNvSpPr txBox="1"/>
          <p:nvPr/>
        </p:nvSpPr>
        <p:spPr>
          <a:xfrm>
            <a:off x="640080" y="1828800"/>
            <a:ext cx="5760556" cy="457200"/>
          </a:xfrm>
          <a:prstGeom prst="rect">
            <a:avLst/>
          </a:prstGeom>
          <a:noFill/>
        </p:spPr>
        <p:txBody>
          <a:bodyPr wrap="square">
            <a:spAutoFit/>
          </a:bodyPr>
          <a:lstStyle/>
          <a:p>
            <a:r>
              <a:rPr sz="1200" b="1">
                <a:solidFill>
                  <a:srgbClr val="9A9A9A"/>
                </a:solidFill>
                <a:latin typeface="Arial"/>
              </a:rPr>
              <a:t>SOURCING THE PERSONA</a:t>
            </a:r>
          </a:p>
        </p:txBody>
      </p:sp>
      <p:sp>
        <p:nvSpPr>
          <p:cNvPr id="6" name="TextBox 5"/>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Personas come from research, not guesswork</a:t>
            </a:r>
          </a:p>
        </p:txBody>
      </p:sp>
      <p:sp>
        <p:nvSpPr>
          <p:cNvPr id="7" name="TextBox 6"/>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5-10 interviews with real customers and lost deals (ideally run by someone outside your team) · CRM win/loss analysis · sitting in on sales calls and call recordings · job postings for the role · the person's own social profiles and communities · what your international peers and competitors already know.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Three ways to write down a persona</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Variant 1 — "5 rings of buying insight" (Adele Revella, Buyer Personas): priority initiatives, success factors, perceived barriers, buyer's journey, decision criteria. Adele Revella's book uses Boon Edam's published "Architect" persona as its worked example — summarized here, not reproduced in full.</a:t>
            </a:r>
          </a:p>
          <a:p>
            <a:pPr>
              <a:spcAft>
                <a:spcPts val="1000"/>
              </a:spcAft>
            </a:pPr>
            <a:r>
              <a:rPr sz="1500" b="0">
                <a:solidFill>
                  <a:srgbClr val="D8D8D8"/>
                </a:solidFill>
                <a:latin typeface="Arial"/>
              </a:rPr>
              <a:t>—  Variant 2 — Pains / Objections / Important-to-know: the format this module's homework uses. 3 pains, 3 objections, 3 must-know points per persona, plus "what do they compare us to"</a:t>
            </a:r>
          </a:p>
          <a:p>
            <a:pPr>
              <a:spcAft>
                <a:spcPts val="1000"/>
              </a:spcAft>
            </a:pPr>
            <a:r>
              <a:rPr sz="1500" b="0">
                <a:solidFill>
                  <a:srgbClr val="D8D8D8"/>
                </a:solidFill>
                <a:latin typeface="Arial"/>
              </a:rPr>
              <a:t>—  Variant 3 — empathy map canvas: what the persona thinks &amp; feels, hears, sees, says &amp; does, plus their pains and gains</a:t>
            </a:r>
          </a:p>
          <a:p>
            <a:pPr>
              <a:spcAft>
                <a:spcPts val="1000"/>
              </a:spcAft>
            </a:pPr>
            <a:r>
              <a:rPr sz="1500" b="0">
                <a:solidFill>
                  <a:srgbClr val="D8D8D8"/>
                </a:solidFill>
                <a:latin typeface="Arial"/>
              </a:rPr>
              <a:t>—  Insight aggregator, in 5 steps: transcribe every interview and tag each quote → pull the quotes with real specifics or emotion → write a one-line headline insight per quote → group similar headlines (4-5 quotes usually support one insight) → rewrite the grouped insight as one precise statement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AI-drafted persona brief: a reusable prompt</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Give the model your business context first, then this structure (Role / Instruction / Steps / Expectation):</a:t>
            </a:r>
          </a:p>
          <a:p>
            <a:pPr>
              <a:spcAft>
                <a:spcPts val="1000"/>
              </a:spcAft>
            </a:pPr>
            <a:r>
              <a:rPr sz="1500" b="0">
                <a:solidFill>
                  <a:srgbClr val="D8D8D8"/>
                </a:solidFill>
                <a:latin typeface="Arial"/>
              </a:rPr>
              <a:t>—  R — "You are a strategic analyst researching a target customer for a B2B company."</a:t>
            </a:r>
          </a:p>
          <a:p>
            <a:pPr>
              <a:spcAft>
                <a:spcPts val="1000"/>
              </a:spcAft>
            </a:pPr>
            <a:r>
              <a:rPr sz="1500" b="0">
                <a:solidFill>
                  <a:srgbClr val="D8D8D8"/>
                </a:solidFill>
                <a:latin typeface="Arial"/>
              </a:rPr>
              <a:t>—  I — "{target persona} is a typical decision-maker at companies in {industry} that we sell to. Build a detailed profile focused on pains, objections, and must-know facts for personalized outreach."</a:t>
            </a:r>
          </a:p>
          <a:p>
            <a:pPr>
              <a:spcAft>
                <a:spcPts val="1000"/>
              </a:spcAft>
            </a:pPr>
            <a:r>
              <a:rPr sz="1500" b="0">
                <a:solidFill>
                  <a:srgbClr val="D8D8D8"/>
                </a:solidFill>
                <a:latin typeface="Arial"/>
              </a:rPr>
              <a:t>—  S — gather (reports, interviews, public statements) → analyze (priorities, motivations, objections) → synthesize into Pains / Objections / Important blocks</a:t>
            </a:r>
          </a:p>
          <a:p>
            <a:pPr>
              <a:spcAft>
                <a:spcPts val="1000"/>
              </a:spcAft>
            </a:pPr>
            <a:r>
              <a:rPr sz="1500" b="0">
                <a:solidFill>
                  <a:srgbClr val="D8D8D8"/>
                </a:solidFill>
                <a:latin typeface="Arial"/>
              </a:rPr>
              <a:t>—  E — a 50-60 point summary across the three blocks, sourced from material no older than 2 years</a:t>
            </a:r>
          </a:p>
          <a:p>
            <a:pPr>
              <a:spcAft>
                <a:spcPts val="1000"/>
              </a:spcAft>
            </a:pPr>
            <a:r>
              <a:rPr sz="1500" b="0">
                <a:solidFill>
                  <a:srgbClr val="D8D8D8"/>
                </a:solidFill>
                <a:latin typeface="Arial"/>
              </a:rPr>
              <a:t>—  Treat the output as a first draft — verify against your own interviews before you ship messaging built 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5.4  The personalization hierarchy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457200"/>
            <a:ext cx="10728655" cy="731520"/>
          </a:xfrm>
          <a:prstGeom prst="rect">
            <a:avLst/>
          </a:prstGeom>
          <a:noFill/>
        </p:spPr>
        <p:txBody>
          <a:bodyPr wrap="square">
            <a:spAutoFit/>
          </a:bodyPr>
          <a:lstStyle/>
          <a:p>
            <a:r>
              <a:rPr sz="2400" b="1">
                <a:solidFill>
                  <a:srgbClr val="F5F5F5"/>
                </a:solidFill>
                <a:latin typeface="Arial"/>
              </a:rPr>
              <a:t>Three layers, three offer types</a:t>
            </a:r>
          </a:p>
        </p:txBody>
      </p:sp>
      <p:pic>
        <p:nvPicPr>
          <p:cNvPr id="5" name="Picture 4" descr="m5-personalization-pyramid.png"/>
          <p:cNvPicPr>
            <a:picLocks noChangeAspect="1"/>
          </p:cNvPicPr>
          <p:nvPr/>
        </p:nvPicPr>
        <p:blipFill>
          <a:blip r:embed="rId2"/>
          <a:stretch>
            <a:fillRect/>
          </a:stretch>
        </p:blipFill>
        <p:spPr>
          <a:xfrm>
            <a:off x="2810272" y="1371600"/>
            <a:ext cx="6571150" cy="4572000"/>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250" b="0">
                <a:solidFill>
                  <a:srgbClr val="9A9A9A"/>
                </a:solidFill>
                <a:latin typeface="Arial"/>
              </a:rPr>
              <a:t>Industry trends create company initiatives; company initiatives change what a specific persona is measured on. Your offer should personalize at the same three layers — wide and qualitative at the top, narrow and quantified at the bottom.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What each offer type actually contains</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Industry offer — broad, quality-over-numbers value: not built to sell, built to earn the next click (visit the site, take a call, join a webinar, download an e-book)</a:t>
            </a:r>
          </a:p>
          <a:p>
            <a:pPr>
              <a:spcAft>
                <a:spcPts val="1000"/>
              </a:spcAft>
            </a:pPr>
            <a:r>
              <a:rPr sz="1500" b="0">
                <a:solidFill>
                  <a:srgbClr val="D8D8D8"/>
                </a:solidFill>
                <a:latin typeface="Arial"/>
              </a:rPr>
              <a:t>—  Persona offer — built around one functional role's perception of value; requires real understanding of that persona's fears, motivations, expectations and priorities</a:t>
            </a:r>
          </a:p>
          <a:p>
            <a:pPr>
              <a:spcAft>
                <a:spcPts val="1000"/>
              </a:spcAft>
            </a:pPr>
            <a:r>
              <a:rPr sz="1500" b="0">
                <a:solidFill>
                  <a:srgbClr val="D8D8D8"/>
                </a:solidFill>
                <a:latin typeface="Arial"/>
              </a:rPr>
              <a:t>—  Company + individual offer — solves one named person's problem at one named company; built entirely from account-intelligence data; designed to break a specific mental model, and must be expressed in numbers — revenue, cost, risk</a:t>
            </a:r>
          </a:p>
          <a:p>
            <a:pPr>
              <a:spcAft>
                <a:spcPts val="1000"/>
              </a:spcAft>
            </a:pPr>
            <a:r>
              <a:rPr sz="1500" b="0">
                <a:solidFill>
                  <a:srgbClr val="D8D8D8"/>
                </a:solidFill>
                <a:latin typeface="Arial"/>
              </a:rPr>
              <a:t>—  Map each type to the funnel: industry offer dominates awareness/interest, persona offer dominates interest/consideration, company+individual offer dominates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Content by customer-journey stage</a:t>
            </a:r>
          </a:p>
        </p:txBody>
      </p:sp>
      <p:graphicFrame>
        <p:nvGraphicFramePr>
          <p:cNvPr id="5" name="Table 4"/>
          <p:cNvGraphicFramePr>
            <a:graphicFrameLocks noGrp="1"/>
          </p:cNvGraphicFramePr>
          <p:nvPr/>
        </p:nvGraphicFramePr>
        <p:xfrm>
          <a:off x="640080" y="1463040"/>
          <a:ext cx="10911535" cy="2286000"/>
        </p:xfrm>
        <a:graphic>
          <a:graphicData uri="http://schemas.openxmlformats.org/drawingml/2006/table">
            <a:tbl>
              <a:tblPr firstRow="1" bandRow="1">
                <a:tableStyleId>{5C22544A-7EE6-4342-B048-85BDC9FD1C3A}</a:tableStyleId>
              </a:tblPr>
              <a:tblGrid>
                <a:gridCol w="2727883"/>
                <a:gridCol w="2727883"/>
                <a:gridCol w="2727883"/>
                <a:gridCol w="2727886"/>
              </a:tblGrid>
              <a:tr h="457200">
                <a:tc>
                  <a:txBody>
                    <a:bodyPr/>
                    <a:lstStyle/>
                    <a:p>
                      <a:r>
                        <a:rPr b="1" sz="1200">
                          <a:solidFill>
                            <a:srgbClr val="9A9A9A"/>
                          </a:solidFill>
                          <a:latin typeface="Arial"/>
                        </a:rPr>
                        <a:t>Stage</a:t>
                      </a:r>
                    </a:p>
                  </a:txBody>
                  <a:tcPr>
                    <a:solidFill>
                      <a:srgbClr val="101010"/>
                    </a:solidFill>
                  </a:tcPr>
                </a:tc>
                <a:tc>
                  <a:txBody>
                    <a:bodyPr/>
                    <a:lstStyle/>
                    <a:p>
                      <a:r>
                        <a:rPr b="1" sz="1200">
                          <a:solidFill>
                            <a:srgbClr val="9A9A9A"/>
                          </a:solidFill>
                          <a:latin typeface="Arial"/>
                        </a:rPr>
                        <a:t>Our goal</a:t>
                      </a:r>
                    </a:p>
                  </a:txBody>
                  <a:tcPr>
                    <a:solidFill>
                      <a:srgbClr val="101010"/>
                    </a:solidFill>
                  </a:tcPr>
                </a:tc>
                <a:tc>
                  <a:txBody>
                    <a:bodyPr/>
                    <a:lstStyle/>
                    <a:p>
                      <a:r>
                        <a:rPr b="1" sz="1200">
                          <a:solidFill>
                            <a:srgbClr val="9A9A9A"/>
                          </a:solidFill>
                          <a:latin typeface="Arial"/>
                        </a:rPr>
                        <a:t>Role of content</a:t>
                      </a:r>
                    </a:p>
                  </a:txBody>
                  <a:tcPr>
                    <a:solidFill>
                      <a:srgbClr val="101010"/>
                    </a:solidFill>
                  </a:tcPr>
                </a:tc>
                <a:tc>
                  <a:txBody>
                    <a:bodyPr/>
                    <a:lstStyle/>
                    <a:p>
                      <a:r>
                        <a:rPr b="1" sz="1200">
                          <a:solidFill>
                            <a:srgbClr val="9A9A9A"/>
                          </a:solidFill>
                          <a:latin typeface="Arial"/>
                        </a:rPr>
                        <a:t>Example content</a:t>
                      </a:r>
                    </a:p>
                  </a:txBody>
                  <a:tcPr>
                    <a:solidFill>
                      <a:srgbClr val="101010"/>
                    </a:solidFill>
                  </a:tcPr>
                </a:tc>
              </a:tr>
              <a:tr h="457200">
                <a:tc>
                  <a:txBody>
                    <a:bodyPr/>
                    <a:lstStyle/>
                    <a:p>
                      <a:r>
                        <a:rPr sz="1200">
                          <a:solidFill>
                            <a:srgbClr val="F5F5F5"/>
                          </a:solidFill>
                          <a:latin typeface="Arial"/>
                        </a:rPr>
                        <a:t>Awareness</a:t>
                      </a:r>
                    </a:p>
                  </a:txBody>
                  <a:tcPr>
                    <a:solidFill>
                      <a:srgbClr val="060606"/>
                    </a:solidFill>
                  </a:tcPr>
                </a:tc>
                <a:tc>
                  <a:txBody>
                    <a:bodyPr/>
                    <a:lstStyle/>
                    <a:p>
                      <a:r>
                        <a:rPr sz="1200">
                          <a:solidFill>
                            <a:srgbClr val="F5F5F5"/>
                          </a:solidFill>
                          <a:latin typeface="Arial"/>
                        </a:rPr>
                        <a:t>Attract the audience</a:t>
                      </a:r>
                    </a:p>
                  </a:txBody>
                  <a:tcPr>
                    <a:solidFill>
                      <a:srgbClr val="060606"/>
                    </a:solidFill>
                  </a:tcPr>
                </a:tc>
                <a:tc>
                  <a:txBody>
                    <a:bodyPr/>
                    <a:lstStyle/>
                    <a:p>
                      <a:r>
                        <a:rPr sz="1200">
                          <a:solidFill>
                            <a:srgbClr val="F5F5F5"/>
                          </a:solidFill>
                          <a:latin typeface="Arial"/>
                        </a:rPr>
                        <a:t>Spark interest; be a trustworthy source that understands the market</a:t>
                      </a:r>
                    </a:p>
                  </a:txBody>
                  <a:tcPr>
                    <a:solidFill>
                      <a:srgbClr val="060606"/>
                    </a:solidFill>
                  </a:tcPr>
                </a:tc>
                <a:tc>
                  <a:txBody>
                    <a:bodyPr/>
                    <a:lstStyle/>
                    <a:p>
                      <a:r>
                        <a:rPr sz="1200">
                          <a:solidFill>
                            <a:srgbClr val="F5F5F5"/>
                          </a:solidFill>
                          <a:latin typeface="Arial"/>
                        </a:rPr>
                        <a:t>Articles, blog posts, checklists, infographics, podcasts, thought leadership, guides, research</a:t>
                      </a:r>
                    </a:p>
                  </a:txBody>
                  <a:tcPr>
                    <a:solidFill>
                      <a:srgbClr val="060606"/>
                    </a:solidFill>
                  </a:tcPr>
                </a:tc>
              </a:tr>
              <a:tr h="457200">
                <a:tc>
                  <a:txBody>
                    <a:bodyPr/>
                    <a:lstStyle/>
                    <a:p>
                      <a:r>
                        <a:rPr sz="1200">
                          <a:solidFill>
                            <a:srgbClr val="F5F5F5"/>
                          </a:solidFill>
                          <a:latin typeface="Arial"/>
                        </a:rPr>
                        <a:t>Interest</a:t>
                      </a:r>
                    </a:p>
                  </a:txBody>
                  <a:tcPr>
                    <a:solidFill>
                      <a:srgbClr val="060606"/>
                    </a:solidFill>
                  </a:tcPr>
                </a:tc>
                <a:tc>
                  <a:txBody>
                    <a:bodyPr/>
                    <a:lstStyle/>
                    <a:p>
                      <a:r>
                        <a:rPr sz="1200">
                          <a:solidFill>
                            <a:srgbClr val="F5F5F5"/>
                          </a:solidFill>
                          <a:latin typeface="Arial"/>
                        </a:rPr>
                        <a:t>Get the lead</a:t>
                      </a:r>
                    </a:p>
                  </a:txBody>
                  <a:tcPr>
                    <a:solidFill>
                      <a:srgbClr val="060606"/>
                    </a:solidFill>
                  </a:tcPr>
                </a:tc>
                <a:tc>
                  <a:txBody>
                    <a:bodyPr/>
                    <a:lstStyle/>
                    <a:p>
                      <a:r>
                        <a:rPr sz="1200">
                          <a:solidFill>
                            <a:srgbClr val="F5F5F5"/>
                          </a:solidFill>
                          <a:latin typeface="Arial"/>
                        </a:rPr>
                        <a:t>Show a concrete solution to the persona's needs and pains</a:t>
                      </a:r>
                    </a:p>
                  </a:txBody>
                  <a:tcPr>
                    <a:solidFill>
                      <a:srgbClr val="060606"/>
                    </a:solidFill>
                  </a:tcPr>
                </a:tc>
                <a:tc>
                  <a:txBody>
                    <a:bodyPr/>
                    <a:lstStyle/>
                    <a:p>
                      <a:r>
                        <a:rPr sz="1200">
                          <a:solidFill>
                            <a:srgbClr val="F5F5F5"/>
                          </a:solidFill>
                          <a:latin typeface="Arial"/>
                        </a:rPr>
                        <a:t>Explainer videos, assessment tools, product pages, frameworks, workbooks, virtual/in-person events</a:t>
                      </a:r>
                    </a:p>
                  </a:txBody>
                  <a:tcPr>
                    <a:solidFill>
                      <a:srgbClr val="060606"/>
                    </a:solidFill>
                  </a:tcPr>
                </a:tc>
              </a:tr>
              <a:tr h="457200">
                <a:tc>
                  <a:txBody>
                    <a:bodyPr/>
                    <a:lstStyle/>
                    <a:p>
                      <a:r>
                        <a:rPr sz="1200">
                          <a:solidFill>
                            <a:srgbClr val="F5F5F5"/>
                          </a:solidFill>
                          <a:latin typeface="Arial"/>
                        </a:rPr>
                        <a:t>Consideration</a:t>
                      </a:r>
                    </a:p>
                  </a:txBody>
                  <a:tcPr>
                    <a:solidFill>
                      <a:srgbClr val="060606"/>
                    </a:solidFill>
                  </a:tcPr>
                </a:tc>
                <a:tc>
                  <a:txBody>
                    <a:bodyPr/>
                    <a:lstStyle/>
                    <a:p>
                      <a:r>
                        <a:rPr sz="1200">
                          <a:solidFill>
                            <a:srgbClr val="F5F5F5"/>
                          </a:solidFill>
                          <a:latin typeface="Arial"/>
                        </a:rPr>
                        <a:t>Build brand preference</a:t>
                      </a:r>
                    </a:p>
                  </a:txBody>
                  <a:tcPr>
                    <a:solidFill>
                      <a:srgbClr val="060606"/>
                    </a:solidFill>
                  </a:tcPr>
                </a:tc>
                <a:tc>
                  <a:txBody>
                    <a:bodyPr/>
                    <a:lstStyle/>
                    <a:p>
                      <a:r>
                        <a:rPr sz="1200">
                          <a:solidFill>
                            <a:srgbClr val="F5F5F5"/>
                          </a:solidFill>
                          <a:latin typeface="Arial"/>
                        </a:rPr>
                        <a:t>Show the value we can deliver and what makes us different</a:t>
                      </a:r>
                    </a:p>
                  </a:txBody>
                  <a:tcPr>
                    <a:solidFill>
                      <a:srgbClr val="060606"/>
                    </a:solidFill>
                  </a:tcPr>
                </a:tc>
                <a:tc>
                  <a:txBody>
                    <a:bodyPr/>
                    <a:lstStyle/>
                    <a:p>
                      <a:r>
                        <a:rPr sz="1200">
                          <a:solidFill>
                            <a:srgbClr val="F5F5F5"/>
                          </a:solidFill>
                          <a:latin typeface="Arial"/>
                        </a:rPr>
                        <a:t>Solution guides, ROI examples, webinars, case studies, testimonials, technical data, comparisons</a:t>
                      </a:r>
                    </a:p>
                  </a:txBody>
                  <a:tcPr>
                    <a:solidFill>
                      <a:srgbClr val="060606"/>
                    </a:solidFill>
                  </a:tcPr>
                </a:tc>
              </a:tr>
              <a:tr h="457200">
                <a:tc>
                  <a:txBody>
                    <a:bodyPr/>
                    <a:lstStyle/>
                    <a:p>
                      <a:r>
                        <a:rPr sz="1200">
                          <a:solidFill>
                            <a:srgbClr val="F5F5F5"/>
                          </a:solidFill>
                          <a:latin typeface="Arial"/>
                        </a:rPr>
                        <a:t>Decision</a:t>
                      </a:r>
                    </a:p>
                  </a:txBody>
                  <a:tcPr>
                    <a:solidFill>
                      <a:srgbClr val="060606"/>
                    </a:solidFill>
                  </a:tcPr>
                </a:tc>
                <a:tc>
                  <a:txBody>
                    <a:bodyPr/>
                    <a:lstStyle/>
                    <a:p>
                      <a:r>
                        <a:rPr sz="1200">
                          <a:solidFill>
                            <a:srgbClr val="F5F5F5"/>
                          </a:solidFill>
                          <a:latin typeface="Arial"/>
                        </a:rPr>
                        <a:t>Convert to buyer</a:t>
                      </a:r>
                    </a:p>
                  </a:txBody>
                  <a:tcPr>
                    <a:solidFill>
                      <a:srgbClr val="060606"/>
                    </a:solidFill>
                  </a:tcPr>
                </a:tc>
                <a:tc>
                  <a:txBody>
                    <a:bodyPr/>
                    <a:lstStyle/>
                    <a:p>
                      <a:r>
                        <a:rPr sz="1200">
                          <a:solidFill>
                            <a:srgbClr val="F5F5F5"/>
                          </a:solidFill>
                          <a:latin typeface="Arial"/>
                        </a:rPr>
                        <a:t>Show value in money and help our internal champion get approval</a:t>
                      </a:r>
                    </a:p>
                  </a:txBody>
                  <a:tcPr>
                    <a:solidFill>
                      <a:srgbClr val="060606"/>
                    </a:solidFill>
                  </a:tcPr>
                </a:tc>
                <a:tc>
                  <a:txBody>
                    <a:bodyPr/>
                    <a:lstStyle/>
                    <a:p>
                      <a:r>
                        <a:rPr sz="1200">
                          <a:solidFill>
                            <a:srgbClr val="F5F5F5"/>
                          </a:solidFill>
                          <a:latin typeface="Arial"/>
                        </a:rPr>
                        <a:t>ROI calculators, detailed project estimates, corporate workshops, account-specific proposals</a:t>
                      </a:r>
                    </a:p>
                  </a:txBody>
                  <a:tcPr>
                    <a:solidFill>
                      <a:srgbClr val="06060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5.5  Awareness-stage content: the lead magnet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457200"/>
            <a:ext cx="10728655" cy="731520"/>
          </a:xfrm>
          <a:prstGeom prst="rect">
            <a:avLst/>
          </a:prstGeom>
          <a:noFill/>
        </p:spPr>
        <p:txBody>
          <a:bodyPr wrap="square">
            <a:spAutoFit/>
          </a:bodyPr>
          <a:lstStyle/>
          <a:p>
            <a:r>
              <a:rPr sz="2400" b="1">
                <a:solidFill>
                  <a:srgbClr val="F5F5F5"/>
                </a:solidFill>
                <a:latin typeface="Arial"/>
              </a:rPr>
              <a:t>Ben Hunt's ladder of awareness</a:t>
            </a:r>
          </a:p>
        </p:txBody>
      </p:sp>
      <p:pic>
        <p:nvPicPr>
          <p:cNvPr id="5" name="Picture 4" descr="m5-ben-hunt-ladder.png"/>
          <p:cNvPicPr>
            <a:picLocks noChangeAspect="1"/>
          </p:cNvPicPr>
          <p:nvPr/>
        </p:nvPicPr>
        <p:blipFill>
          <a:blip r:embed="rId2"/>
          <a:stretch>
            <a:fillRect/>
          </a:stretch>
        </p:blipFill>
        <p:spPr>
          <a:xfrm>
            <a:off x="2724933" y="1371600"/>
            <a:ext cx="6741829" cy="4572000"/>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250" b="0">
                <a:solidFill>
                  <a:srgbClr val="9A9A9A"/>
                </a:solidFill>
                <a:latin typeface="Arial"/>
              </a:rPr>
              <a:t>Diagnose which rung your target persona is standing on before you write a headline — "10 ways to cut X" lands very differently on rung 1 than on rung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457200"/>
            <a:ext cx="10728655" cy="731520"/>
          </a:xfrm>
          <a:prstGeom prst="rect">
            <a:avLst/>
          </a:prstGeom>
          <a:noFill/>
        </p:spPr>
        <p:txBody>
          <a:bodyPr wrap="square">
            <a:spAutoFit/>
          </a:bodyPr>
          <a:lstStyle/>
          <a:p>
            <a:r>
              <a:rPr sz="2400" b="1">
                <a:solidFill>
                  <a:srgbClr val="F5F5F5"/>
                </a:solidFill>
                <a:latin typeface="Arial"/>
              </a:rPr>
              <a:t>Five awareness-stage content formats</a:t>
            </a:r>
          </a:p>
        </p:txBody>
      </p:sp>
      <p:pic>
        <p:nvPicPr>
          <p:cNvPr id="5" name="Picture 4" descr="m5-lead-magnet-grid.png"/>
          <p:cNvPicPr>
            <a:picLocks noChangeAspect="1"/>
          </p:cNvPicPr>
          <p:nvPr/>
        </p:nvPicPr>
        <p:blipFill>
          <a:blip r:embed="rId2"/>
          <a:stretch>
            <a:fillRect/>
          </a:stretch>
        </p:blipFill>
        <p:spPr>
          <a:xfrm>
            <a:off x="640080" y="1371600"/>
            <a:ext cx="10911535" cy="3422254"/>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250" b="0">
                <a:solidFill>
                  <a:srgbClr val="9A9A9A"/>
                </a:solidFill>
                <a:latin typeface="Arial"/>
              </a:rPr>
              <a:t>A lead magnet asks nothing of the reader in return — no form, no gate, no "share your company info." Save the form for when you actually need contact details: a tool, a webinar seat, a demo request.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content-writing.jpg"/>
          <p:cNvPicPr>
            <a:picLocks noChangeAspect="1"/>
          </p:cNvPicPr>
          <p:nvPr/>
        </p:nvPicPr>
        <p:blipFill>
          <a:blip r:embed="rId2"/>
          <a:srcRect l="22733" r="22733"/>
          <a:stretch>
            <a:fillRect/>
          </a:stretch>
        </p:blipFill>
        <p:spPr>
          <a:xfrm>
            <a:off x="6583516" y="0"/>
            <a:ext cx="5608179" cy="6858000"/>
          </a:xfrm>
          <a:prstGeom prst="rect">
            <a:avLst/>
          </a:prstGeom>
        </p:spPr>
      </p:pic>
      <p:sp>
        <p:nvSpPr>
          <p:cNvPr id="5" name="TextBox 4"/>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Distributing awareness content without a content studio</a:t>
            </a:r>
          </a:p>
        </p:txBody>
      </p:sp>
      <p:sp>
        <p:nvSpPr>
          <p:cNvPr id="6" name="TextBox 5"/>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NotebookLM (Google) turns a research doc or deck into an auto-generated explainer podcast for passive distribution. HeyGen renders your own on-camera presence into an avatar-led video without a studio or a camera crew — useful for scaling one script across personas or languages.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5.6  Nurture: content chains by persona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email-nurture.jpg"/>
          <p:cNvPicPr>
            <a:picLocks noChangeAspect="1"/>
          </p:cNvPicPr>
          <p:nvPr/>
        </p:nvPicPr>
        <p:blipFill>
          <a:blip r:embed="rId2"/>
          <a:srcRect l="22733" r="22733"/>
          <a:stretch>
            <a:fillRect/>
          </a:stretch>
        </p:blipFill>
        <p:spPr>
          <a:xfrm>
            <a:off x="6583516" y="0"/>
            <a:ext cx="5608179" cy="6858000"/>
          </a:xfrm>
          <a:prstGeom prst="rect">
            <a:avLst/>
          </a:prstGeom>
        </p:spPr>
      </p:pic>
      <p:sp>
        <p:nvSpPr>
          <p:cNvPr id="5" name="TextBox 4"/>
          <p:cNvSpPr txBox="1"/>
          <p:nvPr/>
        </p:nvSpPr>
        <p:spPr>
          <a:xfrm>
            <a:off x="640080" y="1828800"/>
            <a:ext cx="5760556" cy="457200"/>
          </a:xfrm>
          <a:prstGeom prst="rect">
            <a:avLst/>
          </a:prstGeom>
          <a:noFill/>
        </p:spPr>
        <p:txBody>
          <a:bodyPr wrap="square">
            <a:spAutoFit/>
          </a:bodyPr>
          <a:lstStyle/>
          <a:p>
            <a:r>
              <a:rPr sz="1200" b="1">
                <a:solidFill>
                  <a:srgbClr val="9A9A9A"/>
                </a:solidFill>
                <a:latin typeface="Arial"/>
              </a:rPr>
              <a:t>THE FOREVER-NURTURE FORMULA</a:t>
            </a:r>
          </a:p>
        </p:txBody>
      </p:sp>
      <p:sp>
        <p:nvSpPr>
          <p:cNvPr id="6" name="TextBox 5"/>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1 message / every 10 days / 4 easy pieces</a:t>
            </a:r>
          </a:p>
        </p:txBody>
      </p:sp>
      <p:sp>
        <p:nvSpPr>
          <p:cNvPr id="7" name="TextBox 6"/>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One touch, sent roughly every 10 days, carrying content that's easy to consume in one sitting: one tip, one tool, one useful resource, one quote or industry note. A worked example from this module's source case built a 7-email sales sequence and a 16-email marketing sequence for a single persona, each keyed to a specific pain and objection with its own CTA. Educational webinars and business breakfasts built around one persona's real question slot into the same chain as a soft, low-commitment touchpoint.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5.7  The intermediate offer (tripwire)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457200"/>
            <a:ext cx="10728655" cy="731520"/>
          </a:xfrm>
          <a:prstGeom prst="rect">
            <a:avLst/>
          </a:prstGeom>
          <a:noFill/>
        </p:spPr>
        <p:txBody>
          <a:bodyPr wrap="square">
            <a:spAutoFit/>
          </a:bodyPr>
          <a:lstStyle/>
          <a:p>
            <a:r>
              <a:rPr sz="2400" b="1">
                <a:solidFill>
                  <a:srgbClr val="F5F5F5"/>
                </a:solidFill>
                <a:latin typeface="Arial"/>
              </a:rPr>
              <a:t>The tripwire offer: six formats, with real published examples</a:t>
            </a:r>
          </a:p>
        </p:txBody>
      </p:sp>
      <p:pic>
        <p:nvPicPr>
          <p:cNvPr id="5" name="Picture 4" descr="m5-tripwire-grid.png"/>
          <p:cNvPicPr>
            <a:picLocks noChangeAspect="1"/>
          </p:cNvPicPr>
          <p:nvPr/>
        </p:nvPicPr>
        <p:blipFill>
          <a:blip r:embed="rId2"/>
          <a:stretch>
            <a:fillRect/>
          </a:stretch>
        </p:blipFill>
        <p:spPr>
          <a:xfrm>
            <a:off x="1360726" y="1371600"/>
            <a:ext cx="9470243" cy="4572000"/>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250" b="0">
                <a:solidFill>
                  <a:srgbClr val="9A9A9A"/>
                </a:solidFill>
                <a:latin typeface="Arial"/>
              </a:rPr>
              <a:t>"Demonstrate our expertise, confirm our solution moves this person's KPIs — free, low-cost, or credited to the project if they buy." It sits between content and a full sales cycle: the account has to act and hand over information, which makes it a stronger signal than a download. Softline, Dassault Systèmes, Cisco, Microsoft and BASF are published, public examples of the format.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workshop-hackathon.jpg"/>
          <p:cNvPicPr>
            <a:picLocks noChangeAspect="1"/>
          </p:cNvPicPr>
          <p:nvPr/>
        </p:nvPicPr>
        <p:blipFill>
          <a:blip r:embed="rId2"/>
          <a:srcRect l="22733" r="22733"/>
          <a:stretch>
            <a:fillRect/>
          </a:stretch>
        </p:blipFill>
        <p:spPr>
          <a:xfrm>
            <a:off x="6583516" y="0"/>
            <a:ext cx="5608179" cy="6858000"/>
          </a:xfrm>
          <a:prstGeom prst="rect">
            <a:avLst/>
          </a:prstGeom>
        </p:spPr>
      </p:pic>
      <p:sp>
        <p:nvSpPr>
          <p:cNvPr id="5" name="TextBox 4"/>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Tripwire in practice: a 3-hour AI hackathon</a:t>
            </a:r>
          </a:p>
        </p:txBody>
      </p:sp>
      <p:sp>
        <p:nvSpPr>
          <p:cNvPr id="6" name="TextBox 5"/>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A worked example from this module: a 3-hour, coffee-break-included hackathon on "AI in acquiring and growing key accounts" — target audience B2B marketing/sales directors, priced modestly, positioned entirely as a taste of the real engagement to come.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5.8  Consideration &amp; decision: buyer enablement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Buyer-enablement content for the late funnel</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Argument kits for your internal champion to use in a room you're not in — ROI benchmarks, competitor comparisons, calculators, best-practice case studies, demo recordings, testimonials, and a ready-made slide or email template</a:t>
            </a:r>
          </a:p>
          <a:p>
            <a:pPr>
              <a:spcAft>
                <a:spcPts val="1000"/>
              </a:spcAft>
            </a:pPr>
            <a:r>
              <a:rPr sz="1500" b="0">
                <a:solidFill>
                  <a:srgbClr val="D8D8D8"/>
                </a:solidFill>
                <a:latin typeface="Arial"/>
              </a:rPr>
              <a:t>—  Detailed case studies: customer background, the problem, how they chose a vendor, why they chose you, the project in detail (phases, process, diagrams), the result in photos and numbers, a quote, and a call to action</a:t>
            </a:r>
          </a:p>
          <a:p>
            <a:pPr>
              <a:spcAft>
                <a:spcPts val="1000"/>
              </a:spcAft>
            </a:pPr>
            <a:r>
              <a:rPr sz="1500" b="0">
                <a:solidFill>
                  <a:srgbClr val="D8D8D8"/>
                </a:solidFill>
                <a:latin typeface="Arial"/>
              </a:rPr>
              <a:t>—  Ten common proposal mistakes worth checking your own template against: pitching the technical buyer's language to the economic buyer (and vice versa); no cost-of-inaction framing; sending a bare spreadsheet with no narrative; no quantified financial benefit; no clear resourcing ask of the client's own team; testimonials instead of case studies; no reference list; a generic, uncustomized document; a confusing structure (the Minto Pyramid principle helps); and no tracking of whether the document was even opened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handshake-deal.jpg"/>
          <p:cNvPicPr>
            <a:picLocks noChangeAspect="1"/>
          </p:cNvPicPr>
          <p:nvPr/>
        </p:nvPicPr>
        <p:blipFill>
          <a:blip r:embed="rId2"/>
          <a:srcRect l="22758" r="22758"/>
          <a:stretch>
            <a:fillRect/>
          </a:stretch>
        </p:blipFill>
        <p:spPr>
          <a:xfrm>
            <a:off x="6583516" y="0"/>
            <a:ext cx="5608179" cy="6858000"/>
          </a:xfrm>
          <a:prstGeom prst="rect">
            <a:avLst/>
          </a:prstGeom>
        </p:spPr>
      </p:pic>
      <p:sp>
        <p:nvSpPr>
          <p:cNvPr id="5" name="TextBox 4"/>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What "decision-stage" content actually closes</a:t>
            </a:r>
          </a:p>
        </p:txBody>
      </p:sp>
      <p:sp>
        <p:nvSpPr>
          <p:cNvPr id="6" name="TextBox 5"/>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By this stage the content is doing one job: make the ROI undeniable and make it easy for your internal champion to get budget approval without you in the room. (The original training also pointed to NetApp's own published persona-research deck as an outside example of documented personas at scale — that's NetApp's IP and isn't reproduced 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5.9  Agentic ABM in practice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457200"/>
            <a:ext cx="10728655" cy="731520"/>
          </a:xfrm>
          <a:prstGeom prst="rect">
            <a:avLst/>
          </a:prstGeom>
          <a:noFill/>
        </p:spPr>
        <p:txBody>
          <a:bodyPr wrap="square">
            <a:spAutoFit/>
          </a:bodyPr>
          <a:lstStyle/>
          <a:p>
            <a:r>
              <a:rPr sz="2400" b="1">
                <a:solidFill>
                  <a:srgbClr val="F5F5F5"/>
                </a:solidFill>
                <a:latin typeface="Arial"/>
              </a:rPr>
              <a:t>MegaBrain: an agent workflow for this module</a:t>
            </a:r>
          </a:p>
        </p:txBody>
      </p:sp>
      <p:pic>
        <p:nvPicPr>
          <p:cNvPr id="5" name="Picture 4" descr="m5-agent-workflow.png"/>
          <p:cNvPicPr>
            <a:picLocks noChangeAspect="1"/>
          </p:cNvPicPr>
          <p:nvPr/>
        </p:nvPicPr>
        <p:blipFill>
          <a:blip r:embed="rId2"/>
          <a:stretch>
            <a:fillRect/>
          </a:stretch>
        </p:blipFill>
        <p:spPr>
          <a:xfrm>
            <a:off x="640080" y="1371600"/>
            <a:ext cx="10911535" cy="3748103"/>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250" b="0">
                <a:solidFill>
                  <a:srgbClr val="9A9A9A"/>
                </a:solidFill>
                <a:latin typeface="Arial"/>
              </a:rPr>
              <a:t>One prompt, routed through MegaBrain's model-agnostic gateway, turns a named account's public signals into a ready-to-edit, persona-specific email sequence — no separate copywriting tool, no per-model contract.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pic>
        <p:nvPicPr>
          <p:cNvPr id="4" name="Picture 3" descr="m5-product-demo.jpg"/>
          <p:cNvPicPr>
            <a:picLocks noChangeAspect="1"/>
          </p:cNvPicPr>
          <p:nvPr/>
        </p:nvPicPr>
        <p:blipFill>
          <a:blip r:embed="rId2"/>
          <a:srcRect l="26975" r="26975"/>
          <a:stretch>
            <a:fillRect/>
          </a:stretch>
        </p:blipFill>
        <p:spPr>
          <a:xfrm>
            <a:off x="6583516" y="0"/>
            <a:ext cx="5608179" cy="6858000"/>
          </a:xfrm>
          <a:prstGeom prst="rect">
            <a:avLst/>
          </a:prstGeom>
        </p:spPr>
      </p:pic>
      <p:sp>
        <p:nvSpPr>
          <p:cNvPr id="5" name="TextBox 4"/>
          <p:cNvSpPr txBox="1"/>
          <p:nvPr/>
        </p:nvSpPr>
        <p:spPr>
          <a:xfrm>
            <a:off x="640080" y="2286000"/>
            <a:ext cx="5760556" cy="2011680"/>
          </a:xfrm>
          <a:prstGeom prst="rect">
            <a:avLst/>
          </a:prstGeom>
          <a:noFill/>
        </p:spPr>
        <p:txBody>
          <a:bodyPr wrap="square">
            <a:spAutoFit/>
          </a:bodyPr>
          <a:lstStyle/>
          <a:p>
            <a:r>
              <a:rPr sz="3000" b="1">
                <a:solidFill>
                  <a:srgbClr val="F5F5F5"/>
                </a:solidFill>
                <a:latin typeface="Arial"/>
              </a:rPr>
              <a:t>Other agent tools for content personalization</a:t>
            </a:r>
          </a:p>
        </p:txBody>
      </p:sp>
      <p:sp>
        <p:nvSpPr>
          <p:cNvPr id="6" name="TextBox 5"/>
          <p:cNvSpPr txBox="1"/>
          <p:nvPr/>
        </p:nvSpPr>
        <p:spPr>
          <a:xfrm>
            <a:off x="640080" y="3657600"/>
            <a:ext cx="5760556" cy="1828800"/>
          </a:xfrm>
          <a:prstGeom prst="rect">
            <a:avLst/>
          </a:prstGeom>
          <a:noFill/>
        </p:spPr>
        <p:txBody>
          <a:bodyPr wrap="square">
            <a:spAutoFit/>
          </a:bodyPr>
          <a:lstStyle/>
          <a:p>
            <a:r>
              <a:rPr sz="1400" b="0">
                <a:solidFill>
                  <a:srgbClr val="9A9A9A"/>
                </a:solidFill>
                <a:latin typeface="Arial"/>
              </a:rPr>
              <a:t>Copy.ai — rebranded from a copywriting tool into a full "GTM AI platform"; drafts persona- and account-specific email and landing copy at scale.  Mutiny — pivoted in 2024-25 from website A/B-test personalization into an agent-first platform that generates personalized content across the whole deal cycle.  NotebookLM (Google) — turns your research and decks into an auto-generated explainer podcast for passive distribution.  HeyGen — avatar-led video content, so one script can scale across personas and languages without a camera crew.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2834640"/>
            <a:ext cx="10911535" cy="1280160"/>
          </a:xfrm>
          <a:prstGeom prst="rect">
            <a:avLst/>
          </a:prstGeom>
          <a:noFill/>
        </p:spPr>
        <p:txBody>
          <a:bodyPr wrap="square">
            <a:spAutoFit/>
          </a:bodyPr>
          <a:lstStyle/>
          <a:p>
            <a:r>
              <a:rPr sz="3200" b="1">
                <a:solidFill>
                  <a:srgbClr val="F5F5F5"/>
                </a:solidFill>
                <a:latin typeface="Arial"/>
              </a:rPr>
              <a:t>Exercises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Homework 1 — build your 3 core personas (Variant 2 format)</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Pick your 3 highest-priority personas from the ICP and account plans you built in Modules 2-3</a:t>
            </a:r>
          </a:p>
          <a:p>
            <a:pPr>
              <a:spcAft>
                <a:spcPts val="1000"/>
              </a:spcAft>
            </a:pPr>
            <a:r>
              <a:rPr sz="1500" b="0">
                <a:solidFill>
                  <a:srgbClr val="D8D8D8"/>
                </a:solidFill>
                <a:latin typeface="Arial"/>
              </a:rPr>
              <a:t>—  Gather source material for each: 5+ real customer/lost-deal interviews if you can get them, CRM win/loss notes, sales call recordings, job postings for the role</a:t>
            </a:r>
          </a:p>
          <a:p>
            <a:pPr>
              <a:spcAft>
                <a:spcPts val="1000"/>
              </a:spcAft>
            </a:pPr>
            <a:r>
              <a:rPr sz="1500" b="0">
                <a:solidFill>
                  <a:srgbClr val="D8D8D8"/>
                </a:solidFill>
                <a:latin typeface="Arial"/>
              </a:rPr>
              <a:t>—  For each persona, write down at least 3 pains, 3 objections, and 3 must-know points, plus what they compare you to</a:t>
            </a:r>
          </a:p>
          <a:p>
            <a:pPr>
              <a:spcAft>
                <a:spcPts val="1000"/>
              </a:spcAft>
            </a:pPr>
            <a:r>
              <a:rPr sz="1500" b="0">
                <a:solidFill>
                  <a:srgbClr val="D8D8D8"/>
                </a:solidFill>
                <a:latin typeface="Arial"/>
              </a:rPr>
              <a:t>—  Cross-check the draft with your sales team before finalizing — they hear these objections live and will correct you</a:t>
            </a:r>
          </a:p>
          <a:p>
            <a:pPr>
              <a:spcAft>
                <a:spcPts val="1000"/>
              </a:spcAft>
            </a:pPr>
            <a:r>
              <a:rPr sz="1500" b="0">
                <a:solidFill>
                  <a:srgbClr val="D8D8D8"/>
                </a:solidFill>
                <a:latin typeface="Arial"/>
              </a:rPr>
              <a:t>—  Save the result in the persona-brief-template.xlsx workbook — bring all 3 personas to Module 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Homework 2 — design one awareness-stage lead magnet</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Choose one format from the 5 in section 5.5 (thought leadership, benchmark report, guide/checklist, case-study digest, or calculator)</a:t>
            </a:r>
          </a:p>
          <a:p>
            <a:pPr>
              <a:spcAft>
                <a:spcPts val="1000"/>
              </a:spcAft>
            </a:pPr>
            <a:r>
              <a:rPr sz="1500" b="0">
                <a:solidFill>
                  <a:srgbClr val="D8D8D8"/>
                </a:solidFill>
                <a:latin typeface="Arial"/>
              </a:rPr>
              <a:t>—  Define: which persona, which single pain, what the reader learns, and the one CTA at the end (no gate, no form)</a:t>
            </a:r>
          </a:p>
          <a:p>
            <a:pPr>
              <a:spcAft>
                <a:spcPts val="1000"/>
              </a:spcAft>
            </a:pPr>
            <a:r>
              <a:rPr sz="1500" b="0">
                <a:solidFill>
                  <a:srgbClr val="D8D8D8"/>
                </a:solidFill>
                <a:latin typeface="Arial"/>
              </a:rPr>
              <a:t>—  Draft a full outline — section by section — and write the first section yourself, in full</a:t>
            </a:r>
          </a:p>
          <a:p>
            <a:pPr>
              <a:spcAft>
                <a:spcPts val="1000"/>
              </a:spcAft>
            </a:pPr>
            <a:r>
              <a:rPr sz="1500" b="0">
                <a:solidFill>
                  <a:srgbClr val="D8D8D8"/>
                </a:solidFill>
                <a:latin typeface="Arial"/>
              </a:rPr>
              <a:t>—  Decide your distribution: on-site article, LinkedIn post, or an auto-generated podcast/video version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Homework 3 — build a 9-email nurture chain for one persona</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Pick one of your 3 personas and list every pain/objection you want to address across the chain</a:t>
            </a:r>
          </a:p>
          <a:p>
            <a:pPr>
              <a:spcAft>
                <a:spcPts val="1000"/>
              </a:spcAft>
            </a:pPr>
            <a:r>
              <a:rPr sz="1500" b="0">
                <a:solidFill>
                  <a:srgbClr val="D8D8D8"/>
                </a:solidFill>
                <a:latin typeface="Arial"/>
              </a:rPr>
              <a:t>—  Apply the 1/10/4 rule: one email every ~10 days, each carrying one easy-to-consume piece of content</a:t>
            </a:r>
          </a:p>
          <a:p>
            <a:pPr>
              <a:spcAft>
                <a:spcPts val="1000"/>
              </a:spcAft>
            </a:pPr>
            <a:r>
              <a:rPr sz="1500" b="0">
                <a:solidFill>
                  <a:srgbClr val="D8D8D8"/>
                </a:solidFill>
                <a:latin typeface="Arial"/>
              </a:rPr>
              <a:t>—  Write a subject line and a one-CTA content plan for all 9 emails, in sequence, building from awareness to decision</a:t>
            </a:r>
          </a:p>
          <a:p>
            <a:pPr>
              <a:spcAft>
                <a:spcPts val="1000"/>
              </a:spcAft>
            </a:pPr>
            <a:r>
              <a:rPr sz="1500" b="0">
                <a:solidFill>
                  <a:srgbClr val="D8D8D8"/>
                </a:solidFill>
                <a:latin typeface="Arial"/>
              </a:rPr>
              <a:t>—  Produce two versions of the same content plan: a marketing-automation version (HTML, unsubscribe link) and a from-a-rep version (plain text, sent from a real inbox)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Homework 4 — design your tripwire (intermediate) offer</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Pick one format from section 5.7 that fits your business (audit, demo, roadmap session, hackathon, technical consult, etc.)</a:t>
            </a:r>
          </a:p>
          <a:p>
            <a:pPr>
              <a:spcAft>
                <a:spcPts val="1000"/>
              </a:spcAft>
            </a:pPr>
            <a:r>
              <a:rPr sz="1500" b="0">
                <a:solidFill>
                  <a:srgbClr val="D8D8D8"/>
                </a:solidFill>
                <a:latin typeface="Arial"/>
              </a:rPr>
              <a:t>—  Define: target audience, the pains it resolves, and the 3 concrete outcomes the account walks away with</a:t>
            </a:r>
          </a:p>
          <a:p>
            <a:pPr>
              <a:spcAft>
                <a:spcPts val="1000"/>
              </a:spcAft>
            </a:pPr>
            <a:r>
              <a:rPr sz="1500" b="0">
                <a:solidFill>
                  <a:srgbClr val="D8D8D8"/>
                </a:solidFill>
                <a:latin typeface="Arial"/>
              </a:rPr>
              <a:t>—  Set the format's mechanics: duration, what you need from the client in return, and price (free / small fixed fee / credited to the main project)</a:t>
            </a:r>
          </a:p>
          <a:p>
            <a:pPr>
              <a:spcAft>
                <a:spcPts val="1000"/>
              </a:spcAft>
            </a:pPr>
            <a:r>
              <a:rPr sz="1500" b="0">
                <a:solidFill>
                  <a:srgbClr val="D8D8D8"/>
                </a:solidFill>
                <a:latin typeface="Arial"/>
              </a:rPr>
              <a:t>—  Write the one-page pitch you'd actually send to invite an account 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414455" y="320040"/>
            <a:ext cx="384048" cy="384048"/>
          </a:xfrm>
          <a:prstGeom prst="roundRect">
            <a:avLst>
              <a:gd name="adj" fmla="val 280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41414"/>
                </a:solidFill>
                <a:latin typeface="Arial"/>
              </a:rPr>
              <a:t>MB</a:t>
            </a:r>
          </a:p>
        </p:txBody>
      </p:sp>
      <p:sp>
        <p:nvSpPr>
          <p:cNvPr id="4" name="TextBox 3"/>
          <p:cNvSpPr txBox="1"/>
          <p:nvPr/>
        </p:nvSpPr>
        <p:spPr>
          <a:xfrm>
            <a:off x="640080" y="502920"/>
            <a:ext cx="10728655" cy="822960"/>
          </a:xfrm>
          <a:prstGeom prst="rect">
            <a:avLst/>
          </a:prstGeom>
          <a:noFill/>
        </p:spPr>
        <p:txBody>
          <a:bodyPr wrap="square">
            <a:spAutoFit/>
          </a:bodyPr>
          <a:lstStyle/>
          <a:p>
            <a:r>
              <a:rPr sz="2400" b="1">
                <a:solidFill>
                  <a:srgbClr val="F5F5F5"/>
                </a:solidFill>
                <a:latin typeface="Arial"/>
              </a:rPr>
              <a:t>Homework 5 — draft persona messaging with MegaBrain (required)</a:t>
            </a:r>
          </a:p>
        </p:txBody>
      </p:sp>
      <p:sp>
        <p:nvSpPr>
          <p:cNvPr id="5" name="TextBox 4"/>
          <p:cNvSpPr txBox="1"/>
          <p:nvPr/>
        </p:nvSpPr>
        <p:spPr>
          <a:xfrm>
            <a:off x="640080" y="1417320"/>
            <a:ext cx="10911535" cy="4937760"/>
          </a:xfrm>
          <a:prstGeom prst="rect">
            <a:avLst/>
          </a:prstGeom>
          <a:noFill/>
        </p:spPr>
        <p:txBody>
          <a:bodyPr wrap="square">
            <a:spAutoFit/>
          </a:bodyPr>
          <a:lstStyle/>
          <a:p>
            <a:pPr>
              <a:spcAft>
                <a:spcPts val="1000"/>
              </a:spcAft>
            </a:pPr>
            <a:r>
              <a:rPr sz="1500" b="0">
                <a:solidFill>
                  <a:srgbClr val="D8D8D8"/>
                </a:solidFill>
                <a:latin typeface="Arial"/>
              </a:rPr>
              <a:t>—  Confirm the getmegabrain.com account and API key you set up in Module 1's Homework 4 — this exercise uses it directly</a:t>
            </a:r>
          </a:p>
          <a:p>
            <a:pPr>
              <a:spcAft>
                <a:spcPts val="1000"/>
              </a:spcAft>
            </a:pPr>
            <a:r>
              <a:rPr sz="1500" b="0">
                <a:solidFill>
                  <a:srgbClr val="D8D8D8"/>
                </a:solidFill>
                <a:latin typeface="Arial"/>
              </a:rPr>
              <a:t>—  In the MegaBrain dashboard, pick a model from the Gateway (any general-purpose model is fine to start)</a:t>
            </a:r>
          </a:p>
          <a:p>
            <a:pPr>
              <a:spcAft>
                <a:spcPts val="1000"/>
              </a:spcAft>
            </a:pPr>
            <a:r>
              <a:rPr sz="1500" b="0">
                <a:solidFill>
                  <a:srgbClr val="D8D8D8"/>
                </a:solidFill>
                <a:latin typeface="Arial"/>
              </a:rPr>
              <a:t>—  Use the RISE prompt from section 5.3 to draft a full persona brief for one of your Homework 1 personas</a:t>
            </a:r>
          </a:p>
          <a:p>
            <a:pPr>
              <a:spcAft>
                <a:spcPts val="1000"/>
              </a:spcAft>
            </a:pPr>
            <a:r>
              <a:rPr sz="1500" b="0">
                <a:solidFill>
                  <a:srgbClr val="D8D8D8"/>
                </a:solidFill>
                <a:latin typeface="Arial"/>
              </a:rPr>
              <a:t>—  Then prompt the same model: "Draft a 3-email nurture sequence for the {persona} at {a real target account from your list}, referencing their most recent public earnings call, product launch, or leadership change, and their likely cost/growth priorities."</a:t>
            </a:r>
          </a:p>
          <a:p>
            <a:pPr>
              <a:spcAft>
                <a:spcPts val="1000"/>
              </a:spcAft>
            </a:pPr>
            <a:r>
              <a:rPr sz="1500" b="0">
                <a:solidFill>
                  <a:srgbClr val="D8D8D8"/>
                </a:solidFill>
                <a:latin typeface="Arial"/>
              </a:rPr>
              <a:t>—  Read the output against your own persona brief and account intelligence — mark anything you'd cut, and rewrite the parts a human reader would catch as generic</a:t>
            </a:r>
          </a:p>
          <a:p>
            <a:pPr>
              <a:spcAft>
                <a:spcPts val="1000"/>
              </a:spcAft>
            </a:pPr>
            <a:r>
              <a:rPr sz="1500" b="0">
                <a:solidFill>
                  <a:srgbClr val="D8D8D8"/>
                </a:solidFill>
                <a:latin typeface="Arial"/>
              </a:rPr>
              <a:t>—  Bring the edited sequence, plus a one-line note on which model you used, to Module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