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9A9A9A"/>
                </a:solidFill>
                <a:latin typeface="Arial"/>
              </a:rPr>
              <a:t>BLACKBELT ON AGENTIC ABM — MEGABRAIN ACADEMY — 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5F5F5"/>
                </a:solidFill>
                <a:latin typeface="Arial"/>
              </a:rPr>
              <a:t>1. Fundamentals of ABM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9A9A9A"/>
                </a:solidFill>
                <a:latin typeface="Arial"/>
              </a:rPr>
              <a:t>A history of B2B sales and marketing, why inbound alone breaks down for enterprise accounts, and what ABM actually 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1.1  A short history of B2B sales and marketing</a:t>
            </a:r>
          </a:p>
        </p:txBody>
      </p:sp>
      <p:pic>
        <p:nvPicPr>
          <p:cNvPr id="5" name="Picture 4" descr="timeline-b2b-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026" y="1371600"/>
            <a:ext cx="8773642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1978 Strategic Selling -&gt; 1986-88 first CRM &amp; SPIN -&gt; 1991-2000 value-added &amp; Solution Selling -&gt; 2010s inbound stack -&gt; 2011 Challenger Sale &amp; Predictable Revenue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The books behind this module</a:t>
            </a:r>
          </a:p>
        </p:txBody>
      </p:sp>
      <p:pic>
        <p:nvPicPr>
          <p:cNvPr id="5" name="Picture 4" descr="book-shel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911535" cy="32437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Six books that mark the timeline above — worth reading in full if any single node above changed how you think about a deal.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pic>
        <p:nvPicPr>
          <p:cNvPr id="4" name="Picture 3" descr="meeting-discussion.jpg"/>
          <p:cNvPicPr>
            <a:picLocks noChangeAspect="1"/>
          </p:cNvPicPr>
          <p:nvPr/>
        </p:nvPicPr>
        <p:blipFill>
          <a:blip r:embed="rId2"/>
          <a:srcRect l="22733" r="22733"/>
          <a:stretch>
            <a:fillRect/>
          </a:stretch>
        </p:blipFill>
        <p:spPr>
          <a:xfrm>
            <a:off x="6583516" y="0"/>
            <a:ext cx="560817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828800"/>
            <a:ext cx="57605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A9A9A"/>
                </a:solidFill>
                <a:latin typeface="Arial"/>
              </a:rPr>
              <a:t>1.2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57605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5F5F5"/>
                </a:solidFill>
                <a:latin typeface="Arial"/>
              </a:rPr>
              <a:t>Why inbound alone breaks down for enterprise accounts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57605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9A9A"/>
                </a:solidFill>
                <a:latin typeface="Arial"/>
              </a:rPr>
              <a:t>The real buying group is 5-15 people across departments. One scored lead is a poor proxy for account readiness — and "spray and pray" is a luxury you don't have when the addressable list is short.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In-class exercise: spot the CTAs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B2B buying can look a lot like courtship — the "marriage" is a signed six- or seven-figure contract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Open each site fresh and time-box 3 minutes per site: monday.com, Gong.io, Datadog, ZoomInfo, Grainger.com, CrowdStrike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Count every call-to-action you can find — buttons, banners, exit-intent popups, chat prompts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Which CTAs are "soft" (content, newsletter) vs. "hard" (book a demo, talk to sales)?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Which of these companies looks ready to be nurtured, and which looks like it expects a hard pitch on visit one?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Go-to-market motions, by contract size</a:t>
            </a:r>
          </a:p>
        </p:txBody>
      </p:sp>
      <p:pic>
        <p:nvPicPr>
          <p:cNvPr id="5" name="Picture 4" descr="gtm-motions-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050" y="1371600"/>
            <a:ext cx="8421594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Contract size and account count should tell you which motion you're running — not the other way around.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SCARF: five levers of the threat/reward response</a:t>
            </a:r>
          </a:p>
        </p:txBody>
      </p:sp>
      <p:pic>
        <p:nvPicPr>
          <p:cNvPr id="5" name="Picture 4" descr="scarf-whe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974" y="1371600"/>
            <a:ext cx="4785746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David Rock, 2009 — Status, Certainty, Autonomy, Relatedness, Fairness. Don't design only for the rational reading of a deal.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pic>
        <p:nvPicPr>
          <p:cNvPr id="4" name="Picture 3" descr="team-collaboration.jpg"/>
          <p:cNvPicPr>
            <a:picLocks noChangeAspect="1"/>
          </p:cNvPicPr>
          <p:nvPr/>
        </p:nvPicPr>
        <p:blipFill>
          <a:blip r:embed="rId2"/>
          <a:srcRect l="27001" r="27001"/>
          <a:stretch>
            <a:fillRect/>
          </a:stretch>
        </p:blipFill>
        <p:spPr>
          <a:xfrm>
            <a:off x="6583516" y="0"/>
            <a:ext cx="560817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828800"/>
            <a:ext cx="57605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A9A9A"/>
                </a:solidFill>
                <a:latin typeface="Arial"/>
              </a:rPr>
              <a:t>1.3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57605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5F5F5"/>
                </a:solidFill>
                <a:latin typeface="Arial"/>
              </a:rPr>
              <a:t>What Account-Based Marketing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57605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9A9A"/>
                </a:solidFill>
                <a:latin typeface="Arial"/>
              </a:rPr>
              <a:t>A customer-centric go-to-market model: marketing and sales work as one team against a defined account or micro-segment — multi-threaded and personalized by tier, not funneled one lead at a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The account journey</a:t>
            </a:r>
          </a:p>
        </p:txBody>
      </p:sp>
      <p:pic>
        <p:nvPicPr>
          <p:cNvPr id="5" name="Picture 4" descr="account-journey-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527" y="1371600"/>
            <a:ext cx="8240641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Channels: social selling, direct mail, 1:1 events, C-level roundtables, business breakfasts, video — alongside email and advertising.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5F5"/>
                </a:solidFill>
                <a:latin typeface="Arial"/>
              </a:rPr>
              <a:t>1.4  Three tiers of ABM program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1:1 Strategic (1-10 accounts) &amp; ABM Lite (10-50)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1:1 — bespoke programs run like a dedicated micro-business unit per account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OneLogin: goals -&gt; ICP -&gt; tiering -&gt; personas -&gt; sales content -&gt; weekly monitoring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Schneider: LinkedIn group + co-branded report as the wedge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Trelleborg: content plan with SMEs — 5,216 landing visits, $6M pipeline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Boon Edam: scripted multi-touch — social touch, 3D mailer, call, exec breakfast, audit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pic>
        <p:nvPicPr>
          <p:cNvPr id="4" name="Picture 3" descr="team-celebrating.jpg"/>
          <p:cNvPicPr>
            <a:picLocks noChangeAspect="1"/>
          </p:cNvPicPr>
          <p:nvPr/>
        </p:nvPicPr>
        <p:blipFill>
          <a:blip r:embed="rId2"/>
          <a:srcRect l="22733" r="22733"/>
          <a:stretch>
            <a:fillRect/>
          </a:stretch>
        </p:blipFill>
        <p:spPr>
          <a:xfrm>
            <a:off x="6583516" y="0"/>
            <a:ext cx="560817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286000"/>
            <a:ext cx="57605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5F5F5"/>
                </a:solidFill>
                <a:latin typeface="Arial"/>
              </a:rPr>
              <a:t>ABM Programmatic (50-500 accounts)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57605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9A9A"/>
                </a:solidFill>
                <a:latin typeface="Arial"/>
              </a:rPr>
              <a:t>Intent data and account-based advertising replace hand-built sequences. Example: a real-estate research program moved 570 accounts through a landing page, a business breakfast (96 attendees), and two follow-up webinars (80 / 60 attendees).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ABM-programmatic stack, by demand stage</a:t>
            </a:r>
          </a:p>
        </p:txBody>
      </p:sp>
      <p:pic>
        <p:nvPicPr>
          <p:cNvPr id="5" name="Picture 4" descr="abm-programmatic-funnel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182" y="1371600"/>
            <a:ext cx="9373331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Updated for July 2026: Echobot is now Dealfront, Clearbit is now Breeze Intelligence (HubSpot), and Drift is being sunset in favor of 1mind.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In-class exercise: is this ABM, or just good outbound?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Scenario: a business-lending fintech runs a cold outreach campaign — a list of 4,000 companies, one email template with {{company_name}} merge tags, sent by 6 SDRs, no shared target-account list between marketing and sales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Question 1: is this ABM? Walk it through the three diagnostic questions from 1.4 — named finite list? personalization past the merge tag? marketing and sales coordinated on the same accounts?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Question 2: why is the verdict "no" — and what's the one change that would make it a real (if lightweight) ABM motion?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Question 3: what's still useful about this campaign, even though it isn't ABM?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pic>
        <p:nvPicPr>
          <p:cNvPr id="4" name="Picture 3" descr="whiteboard-planning.jpg"/>
          <p:cNvPicPr>
            <a:picLocks noChangeAspect="1"/>
          </p:cNvPicPr>
          <p:nvPr/>
        </p:nvPicPr>
        <p:blipFill>
          <a:blip r:embed="rId2"/>
          <a:srcRect l="19334" r="19334"/>
          <a:stretch>
            <a:fillRect/>
          </a:stretch>
        </p:blipFill>
        <p:spPr>
          <a:xfrm>
            <a:off x="6583516" y="0"/>
            <a:ext cx="560817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828800"/>
            <a:ext cx="57605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A9A9A"/>
                </a:solidFill>
                <a:latin typeface="Arial"/>
              </a:rPr>
              <a:t>1.5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57605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5F5F5"/>
                </a:solidFill>
                <a:latin typeface="Arial"/>
              </a:rPr>
              <a:t>Where ABM meets inbound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57605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9A9A"/>
                </a:solidFill>
                <a:latin typeface="Arial"/>
              </a:rPr>
              <a:t>De-anonymize which company is visiting, not the individual, and route the signal into the ABM motion.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Website visitor identification tools</a:t>
            </a:r>
          </a:p>
        </p:txBody>
      </p:sp>
      <p:pic>
        <p:nvPicPr>
          <p:cNvPr id="5" name="Picture 4" descr="tool-logos-visitor-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911535" cy="300563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Also referenced in class: Factors.ai. All five resolve an anonymous visit to a company — none of them identify the individual.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The six ABM processes</a:t>
            </a:r>
          </a:p>
        </p:txBody>
      </p:sp>
      <p:pic>
        <p:nvPicPr>
          <p:cNvPr id="5" name="Picture 4" descr="six-processes-whe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847" y="1371600"/>
            <a:ext cx="4572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Everything after Module 1 is one of these six, run roughly in order and then repeated as the program matures.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pic>
        <p:nvPicPr>
          <p:cNvPr id="4" name="Picture 3" descr="target-bullseye.jpg"/>
          <p:cNvPicPr>
            <a:picLocks noChangeAspect="1"/>
          </p:cNvPicPr>
          <p:nvPr/>
        </p:nvPicPr>
        <p:blipFill>
          <a:blip r:embed="rId2"/>
          <a:srcRect l="17877" r="17877"/>
          <a:stretch>
            <a:fillRect/>
          </a:stretch>
        </p:blipFill>
        <p:spPr>
          <a:xfrm>
            <a:off x="6583516" y="0"/>
            <a:ext cx="560817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828800"/>
            <a:ext cx="57605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9A9A9A"/>
                </a:solidFill>
                <a:latin typeface="Arial"/>
              </a:rPr>
              <a:t>1.8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57605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5F5F5"/>
                </a:solidFill>
                <a:latin typeface="Arial"/>
              </a:rPr>
              <a:t>Worked example: scoring &amp; shortlisting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57605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9A9A"/>
                </a:solidFill>
                <a:latin typeface="Arial"/>
              </a:rPr>
              <a:t>A B2B shared-services provider scores ~25 candidate accounts on a GE/McKinsey-style 2x2 and cuts the list to a named shortlist. (Anonymized — the original used a real client's account list and included real personal contact data, not reproduced here.)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Scoring matrix: attractiveness vs. competitive position</a:t>
            </a:r>
          </a:p>
        </p:txBody>
      </p:sp>
      <p:pic>
        <p:nvPicPr>
          <p:cNvPr id="5" name="Picture 4" descr="scoring-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802" y="1371600"/>
            <a:ext cx="497609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~25 candidate accounts plotted; top-right quadrant becomes the shortlist.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KPI plan for a 20-account strategic program</a:t>
            </a:r>
          </a:p>
        </p:txBody>
      </p:sp>
      <p:pic>
        <p:nvPicPr>
          <p:cNvPr id="5" name="Picture 4" descr="kpi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811" y="1371600"/>
            <a:ext cx="8580073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Tracked now / +1 month / +3 months / +6 months, from contacts in database through signed contracts.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5F5"/>
                </a:solidFill>
                <a:latin typeface="Arial"/>
              </a:rPr>
              <a:t>1.9  Agentic ABM in practice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MegaBrain: an agent workflow for this module</a:t>
            </a:r>
          </a:p>
        </p:txBody>
      </p:sp>
      <p:pic>
        <p:nvPicPr>
          <p:cNvPr id="5" name="Picture 4" descr="agent-workflow-modul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911535" cy="37481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One prompt, routed through MegaBrain's model-agnostic gateway, turns "should we even run ABM here" into a scored recommendation and a first-draft business case — no separate research tool, no per-model contract.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pic>
        <p:nvPicPr>
          <p:cNvPr id="4" name="Picture 3" descr="ai-network-abstract.jpg"/>
          <p:cNvPicPr>
            <a:picLocks noChangeAspect="1"/>
          </p:cNvPicPr>
          <p:nvPr/>
        </p:nvPicPr>
        <p:blipFill>
          <a:blip r:embed="rId2"/>
          <a:srcRect l="27001" r="27001"/>
          <a:stretch>
            <a:fillRect/>
          </a:stretch>
        </p:blipFill>
        <p:spPr>
          <a:xfrm>
            <a:off x="6583516" y="0"/>
            <a:ext cx="5608179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286000"/>
            <a:ext cx="5760556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5F5F5"/>
                </a:solidFill>
                <a:latin typeface="Arial"/>
              </a:rPr>
              <a:t>Other agent tools for the fundamentals stage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5760556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9A9A"/>
                </a:solidFill>
                <a:latin typeface="Arial"/>
              </a:rPr>
              <a:t>Clay — pull firmographic/technographic data to sanity-check your GTM-tier math.  Perplexity / deep-research agents — summarize a market's B2B sales evolution and comparable ABM case studies.  Make / n8n — a scheduled job that drafts a weekly "is this still working" pulse report.  Relevance AI — stand up a lightweight research agent with no code.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The wider sales tech landscape — July 2026</a:t>
            </a:r>
          </a:p>
        </p:txBody>
      </p:sp>
      <p:pic>
        <p:nvPicPr>
          <p:cNvPr id="5" name="Picture 4" descr="sales-tech-landscape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1546" y="1371600"/>
            <a:ext cx="6008602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621792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>
                <a:solidFill>
                  <a:srgbClr val="9A9A9A"/>
                </a:solidFill>
                <a:latin typeface="Arial"/>
              </a:rPr>
              <a:t>Top-ranked tool per category, sourced from coldiq.com/tools. The category list, not any single vendor, is the durable part — this list will look different again in a year.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834640"/>
            <a:ext cx="109115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5F5F5"/>
                </a:solidFill>
                <a:latin typeface="Arial"/>
              </a:rPr>
              <a:t>Exercises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Homework 1 — best and worst customers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Pull a list of your existing (not target) customers' domain names — start from your CRM or billing system, not memory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Rank them best-to-worst by feel, not a formula: revenue, low support burden, how much you enjoy working with them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Write down the best 10-15, then keep going past them until quality clearly drops off — mark that cutoff line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Repeat the same ranking exercise for your worst 10-15 existing customers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Bring both lists to Module 2 — they become the seed data for your Ideal Customer Profile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Homework 2 — website visitor identification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Pick one company-level visitor-ID tool (HubSpot, Factors.ai, Albacross, Dealfront, or Koala — see 1.5)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Install its tracking script on your site and let it run for at least a full week of real traffic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Calculate what share of total visitors it actually resolves to a named company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Of the resolved companies, flag which ones look like attractive target accounts, and write down why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Homework 3 — LinkedIn Sales Navigator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Start a free trial at linkedin.com/sales/onboarding and complete the setup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Build one saved account search and one saved lead search matching the customer profile from Homework 1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You'll use this trial directly for account and stakeholder research in Module 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414455" y="320040"/>
            <a:ext cx="384048" cy="384048"/>
          </a:xfrm>
          <a:prstGeom prst="roundRect">
            <a:avLst>
              <a:gd name="adj" fmla="val 28000"/>
            </a:avLst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141414"/>
                </a:solidFill>
                <a:latin typeface="Arial"/>
              </a:rPr>
              <a:t>MB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5F5F5"/>
                </a:solidFill>
                <a:latin typeface="Arial"/>
              </a:rPr>
              <a:t>Homework 4 — set up MegaBrain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1153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Create a free account at getmegabrain.com — no credit card required, free models are available immediately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Generate an API key from the dashboard and send one test request through the Gateway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D8D8D8"/>
                </a:solidFill>
                <a:latin typeface="Arial"/>
              </a:rPr>
              <a:t>—  This account is required, not optional — Module 5's content and personalization exercises are built around 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